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gihtOFIC92bCUJzjYKb/YUWVOL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dceb295ed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dceb295e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bdceb295e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Automation &amp; Testing Stack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IN"/>
              <a:t>JavaScript • TypeScript • Testing • Mobile Testing• CI/CD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-2422188" y="82991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Font typeface="Calibri"/>
              <a:buNone/>
            </a:pPr>
            <a:r>
              <a:rPr lang="en-IN" sz="4000"/>
              <a:t>JavaScript (JS)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280930" y="1765453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Core language for modern web applications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Supports asynchronous programming using async/await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Used in frontend, backend, and automation testing</a:t>
            </a:r>
            <a:endParaRPr sz="3200"/>
          </a:p>
        </p:txBody>
      </p:sp>
      <p:pic>
        <p:nvPicPr>
          <p:cNvPr descr="JavaScript Logo, symbol, meaning, history, PNG, brand"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18547"/>
          <a:stretch/>
        </p:blipFill>
        <p:spPr>
          <a:xfrm>
            <a:off x="3437264" y="257103"/>
            <a:ext cx="4500390" cy="2061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-798721" y="731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400"/>
              <a:buFont typeface="Calibri"/>
              <a:buNone/>
            </a:pPr>
            <a:r>
              <a:rPr lang="en-IN"/>
              <a:t>TypeScript (TS)</a:t>
            </a:r>
            <a:endParaRPr/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Superset of JavaScript with static typing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Helps catch errors at compile time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Improves scalability and maintainability of test code</a:t>
            </a:r>
            <a:endParaRPr sz="3200"/>
          </a:p>
        </p:txBody>
      </p:sp>
      <p:pic>
        <p:nvPicPr>
          <p:cNvPr descr="TypeScript — Википедия"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2782" y="200666"/>
            <a:ext cx="1930705" cy="1930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-1955494" y="731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Font typeface="Calibri"/>
              <a:buNone/>
            </a:pPr>
            <a:r>
              <a:rPr lang="en-IN" sz="4000"/>
              <a:t>Node.js</a:t>
            </a:r>
            <a:endParaRPr/>
          </a:p>
        </p:txBody>
      </p:sp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JavaScript runtime built on Chrome V8 engine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Uses non‑blocking, event‑driven architecture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Executes automation frameworks and API services</a:t>
            </a:r>
            <a:endParaRPr/>
          </a:p>
        </p:txBody>
      </p:sp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-253388"/>
            <a:ext cx="3186629" cy="3186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400"/>
              <a:buFont typeface="Calibri"/>
              <a:buNone/>
            </a:pPr>
            <a:r>
              <a:rPr b="1" lang="en-IN" sz="3400">
                <a:solidFill>
                  <a:srgbClr val="191919"/>
                </a:solidFill>
              </a:rPr>
              <a:t>Web Testing – Key Concepts</a:t>
            </a:r>
            <a:endParaRPr/>
          </a:p>
        </p:txBody>
      </p:sp>
      <p:sp>
        <p:nvSpPr>
          <p:cNvPr id="116" name="Google Shape;116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Major tools used-&gt; Playwright, Cypress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In real projects, structured testing approaches like Page Object Model, data-driven testing, and reusable fixtures are implemented</a:t>
            </a:r>
            <a:endParaRPr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POM, Data driven testing, fixtures</a:t>
            </a:r>
            <a:endParaRPr/>
          </a:p>
        </p:txBody>
      </p:sp>
      <p:sp>
        <p:nvSpPr>
          <p:cNvPr id="123" name="Google Shape;123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Page Object Model helps separate UI locators and actions from test logic, which makes the framework maintainable.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Data-driven testing allows running the same test with multiple datasets, improving coverage without duplicating code.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Fixtures help manage reusable setups such as login sessions, browser initialization, and test data.</a:t>
            </a:r>
            <a:br>
              <a:rPr lang="en-IN"/>
            </a:br>
            <a:r>
              <a:rPr lang="en-IN"/>
              <a:t>Both Playwright and Cypress support these patterns, although their implementation styles differ slightly.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>
            <p:ph type="title"/>
          </p:nvPr>
        </p:nvSpPr>
        <p:spPr>
          <a:xfrm>
            <a:off x="-1010797" y="511501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400"/>
              <a:buFont typeface="Calibri"/>
              <a:buNone/>
            </a:pPr>
            <a:r>
              <a:rPr lang="en-IN"/>
              <a:t>Web Testing – Playwright</a:t>
            </a:r>
            <a:endParaRPr/>
          </a:p>
        </p:txBody>
      </p:sp>
      <p:sp>
        <p:nvSpPr>
          <p:cNvPr id="129" name="Google Shape;129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Modern end‑to‑end testing framework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Supports multiple browsers and parallel execution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Auto‑waiting reduces flaky tests</a:t>
            </a:r>
            <a:endParaRPr sz="3600"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CSS and xpath can be used to detect element</a:t>
            </a:r>
            <a:endParaRPr sz="3600"/>
          </a:p>
        </p:txBody>
      </p:sp>
      <p:pic>
        <p:nvPicPr>
          <p:cNvPr descr="8年经验之谈 —— 推荐几款常用Web自动化测试神器！ - 知乎" id="130" name="Google Shape;1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0805" y="616085"/>
            <a:ext cx="3094764" cy="1756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/>
          <p:nvPr>
            <p:ph type="title"/>
          </p:nvPr>
        </p:nvSpPr>
        <p:spPr>
          <a:xfrm>
            <a:off x="-1779225" y="71728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400"/>
              <a:buFont typeface="Calibri"/>
              <a:buNone/>
            </a:pPr>
            <a:r>
              <a:rPr lang="en-IN"/>
              <a:t>Web Testing – Cypress</a:t>
            </a:r>
            <a:endParaRPr/>
          </a:p>
        </p:txBody>
      </p:sp>
      <p:sp>
        <p:nvSpPr>
          <p:cNvPr id="136" name="Google Shape;136;p8"/>
          <p:cNvSpPr txBox="1"/>
          <p:nvPr>
            <p:ph idx="1" type="body"/>
          </p:nvPr>
        </p:nvSpPr>
        <p:spPr>
          <a:xfrm>
            <a:off x="0" y="1842571"/>
            <a:ext cx="8956713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43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Developer‑friendly UI testing framework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Runs directly in the browser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Provides time‑travel debugging</a:t>
            </a:r>
            <a:endParaRPr sz="3600"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CSS selectors and jquery are used as selectors.</a:t>
            </a:r>
            <a:endParaRPr/>
          </a:p>
          <a:p>
            <a:pPr indent="-571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None/>
            </a:pPr>
            <a:r>
              <a:t/>
            </a:r>
            <a:endParaRPr sz="3600"/>
          </a:p>
        </p:txBody>
      </p:sp>
      <p:pic>
        <p:nvPicPr>
          <p:cNvPr descr="Best Practices for Cypress Testing in Angular | by Sehban Alam | Medium" id="137" name="Google Shape;1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70424"/>
            <a:ext cx="4274545" cy="2236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400"/>
              <a:buFont typeface="Calibri"/>
              <a:buNone/>
            </a:pPr>
            <a:r>
              <a:rPr lang="en-IN"/>
              <a:t>API Testing – Overview and Authentication</a:t>
            </a:r>
            <a:endParaRPr/>
          </a:p>
        </p:txBody>
      </p:sp>
      <p:sp>
        <p:nvSpPr>
          <p:cNvPr id="143" name="Google Shape;14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Validates backend services independently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Tests REST APIs using HTTP methods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Ensures correct authentication and responses</a:t>
            </a:r>
            <a:endParaRPr sz="3200"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No auth, Basic auth, API key based, token based are common authentication methods.</a:t>
            </a:r>
            <a:endParaRPr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Font typeface="Calibri"/>
              <a:buNone/>
            </a:pPr>
            <a:r>
              <a:rPr lang="en-IN" sz="4000"/>
              <a:t>API Testing – Playwright &amp; Cypress</a:t>
            </a:r>
            <a:endParaRPr/>
          </a:p>
        </p:txBody>
      </p:sp>
      <p:sp>
        <p:nvSpPr>
          <p:cNvPr id="149" name="Google Shape;149;p10"/>
          <p:cNvSpPr txBox="1"/>
          <p:nvPr>
            <p:ph idx="1" type="body"/>
          </p:nvPr>
        </p:nvSpPr>
        <p:spPr>
          <a:xfrm>
            <a:off x="457200" y="116601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Playwright provides API request context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Cypress uses cy.request() for API calls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APIs can be used as test preconditions</a:t>
            </a:r>
            <a:endParaRPr sz="3600"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The response returned can be used to validate data.</a:t>
            </a:r>
            <a:endParaRPr sz="3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400"/>
              <a:buFont typeface="Calibri"/>
              <a:buNone/>
            </a:pPr>
            <a:r>
              <a:rPr lang="en-IN"/>
              <a:t>Mobile Testing (local and cloud)</a:t>
            </a:r>
            <a:endParaRPr/>
          </a:p>
        </p:txBody>
      </p:sp>
      <p:sp>
        <p:nvSpPr>
          <p:cNvPr id="155" name="Google Shape;155;p11"/>
          <p:cNvSpPr txBox="1"/>
          <p:nvPr>
            <p:ph idx="1" type="body"/>
          </p:nvPr>
        </p:nvSpPr>
        <p:spPr>
          <a:xfrm>
            <a:off x="457200" y="131376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15494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555"/>
              </a:spcBef>
              <a:spcAft>
                <a:spcPts val="0"/>
              </a:spcAft>
              <a:buClr>
                <a:srgbClr val="3C3C3C"/>
              </a:buClr>
              <a:buSzPct val="100000"/>
              <a:buChar char="–"/>
            </a:pPr>
            <a:r>
              <a:rPr lang="en-IN" sz="3000"/>
              <a:t>Appium enables cross‑platform mobile automation</a:t>
            </a:r>
            <a:endParaRPr/>
          </a:p>
          <a:p>
            <a:pPr indent="-285750" lvl="1" marL="742950" rtl="0" algn="l">
              <a:spcBef>
                <a:spcPts val="555"/>
              </a:spcBef>
              <a:spcAft>
                <a:spcPts val="0"/>
              </a:spcAft>
              <a:buClr>
                <a:srgbClr val="3C3C3C"/>
              </a:buClr>
              <a:buSzPct val="100000"/>
              <a:buChar char="–"/>
            </a:pPr>
            <a:r>
              <a:rPr lang="en-IN" sz="3000"/>
              <a:t>WDIO acts as test runner and framework</a:t>
            </a:r>
            <a:endParaRPr/>
          </a:p>
          <a:p>
            <a:pPr indent="-285750" lvl="1" marL="742950" rtl="0" algn="l">
              <a:spcBef>
                <a:spcPts val="555"/>
              </a:spcBef>
              <a:spcAft>
                <a:spcPts val="0"/>
              </a:spcAft>
              <a:buClr>
                <a:srgbClr val="3C3C3C"/>
              </a:buClr>
              <a:buSzPct val="100000"/>
              <a:buChar char="–"/>
            </a:pPr>
            <a:r>
              <a:rPr lang="en-IN" sz="3000"/>
              <a:t>Appium Inspector helps locate mobile elements</a:t>
            </a:r>
            <a:endParaRPr sz="3000"/>
          </a:p>
          <a:p>
            <a:pPr indent="-285750" lvl="1" marL="742950" rtl="0" algn="l">
              <a:spcBef>
                <a:spcPts val="555"/>
              </a:spcBef>
              <a:spcAft>
                <a:spcPts val="0"/>
              </a:spcAft>
              <a:buClr>
                <a:srgbClr val="3C3C3C"/>
              </a:buClr>
              <a:buSzPct val="100000"/>
              <a:buChar char="–"/>
            </a:pPr>
            <a:r>
              <a:rPr lang="en-IN" sz="3000"/>
              <a:t>Websites like Browserstack provides the devices which can be used to test.</a:t>
            </a:r>
            <a:endParaRPr/>
          </a:p>
          <a:p>
            <a:pPr indent="-285750" lvl="1" marL="742950" rtl="0" algn="l">
              <a:spcBef>
                <a:spcPts val="555"/>
              </a:spcBef>
              <a:spcAft>
                <a:spcPts val="0"/>
              </a:spcAft>
              <a:buClr>
                <a:srgbClr val="3C3C3C"/>
              </a:buClr>
              <a:buSzPct val="100000"/>
              <a:buChar char="–"/>
            </a:pPr>
            <a:r>
              <a:rPr lang="en-IN" sz="3000"/>
              <a:t>Emulators can also be used on local machine for testing purpose.</a:t>
            </a:r>
            <a:endParaRPr sz="3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title"/>
          </p:nvPr>
        </p:nvSpPr>
        <p:spPr>
          <a:xfrm>
            <a:off x="-1437702" y="44264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Font typeface="Calibri"/>
              <a:buNone/>
            </a:pPr>
            <a:r>
              <a:rPr lang="en-IN" sz="4000"/>
              <a:t>CI / CD Integration</a:t>
            </a:r>
            <a:endParaRPr/>
          </a:p>
        </p:txBody>
      </p:sp>
      <p:sp>
        <p:nvSpPr>
          <p:cNvPr id="161" name="Google Shape;161;p12"/>
          <p:cNvSpPr txBox="1"/>
          <p:nvPr>
            <p:ph idx="1" type="body"/>
          </p:nvPr>
        </p:nvSpPr>
        <p:spPr>
          <a:xfrm>
            <a:off x="313980" y="1688335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Automates test execution on code changes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Ensures faster feedback to developers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Common tools include GitHub Actions and Jenkins.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Done by editing .yml file in ‘.github’.</a:t>
            </a:r>
            <a:endParaRPr/>
          </a:p>
          <a:p>
            <a:pPr indent="-825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None/>
            </a:pPr>
            <a:r>
              <a:t/>
            </a:r>
            <a:endParaRPr sz="3200"/>
          </a:p>
        </p:txBody>
      </p:sp>
      <p:pic>
        <p:nvPicPr>
          <p:cNvPr id="162" name="Google Shape;16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3779" y="45903"/>
            <a:ext cx="4076241" cy="2086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dceb295ed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IN" sz="2600">
                <a:latin typeface="Arial"/>
                <a:ea typeface="Arial"/>
                <a:cs typeface="Arial"/>
                <a:sym typeface="Arial"/>
              </a:rPr>
              <a:t>AI in Software Testing</a:t>
            </a:r>
            <a:endParaRPr sz="5700"/>
          </a:p>
        </p:txBody>
      </p:sp>
      <p:sp>
        <p:nvSpPr>
          <p:cNvPr id="169" name="Google Shape;169;g3bdceb295ed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b="1" lang="en-IN" sz="2300">
                <a:latin typeface="Arial"/>
                <a:ea typeface="Arial"/>
                <a:cs typeface="Arial"/>
                <a:sym typeface="Arial"/>
              </a:rPr>
              <a:t>Test Generation</a:t>
            </a:r>
            <a:r>
              <a:rPr lang="en-IN" sz="2300">
                <a:latin typeface="Arial"/>
                <a:ea typeface="Arial"/>
                <a:cs typeface="Arial"/>
                <a:sym typeface="Arial"/>
              </a:rPr>
              <a:t>: AI can create test cases from requirements, user stories, or natural language.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-IN" sz="2300">
                <a:latin typeface="Arial"/>
                <a:ea typeface="Arial"/>
                <a:cs typeface="Arial"/>
                <a:sym typeface="Arial"/>
              </a:rPr>
              <a:t>Self‑Healing Automation</a:t>
            </a:r>
            <a:r>
              <a:rPr lang="en-IN" sz="2300">
                <a:latin typeface="Arial"/>
                <a:ea typeface="Arial"/>
                <a:cs typeface="Arial"/>
                <a:sym typeface="Arial"/>
              </a:rPr>
              <a:t>: Locators and scripts adapt automatically when the UI changes.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-IN" sz="2300">
                <a:latin typeface="Arial"/>
                <a:ea typeface="Arial"/>
                <a:cs typeface="Arial"/>
                <a:sym typeface="Arial"/>
              </a:rPr>
              <a:t>Failure Analysis</a:t>
            </a:r>
            <a:r>
              <a:rPr lang="en-IN" sz="2300">
                <a:latin typeface="Arial"/>
                <a:ea typeface="Arial"/>
                <a:cs typeface="Arial"/>
                <a:sym typeface="Arial"/>
              </a:rPr>
              <a:t>: AI reviews logs, screenshots, and patterns to suggest root causes.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300">
                <a:latin typeface="Arial"/>
                <a:ea typeface="Arial"/>
                <a:cs typeface="Arial"/>
                <a:sym typeface="Arial"/>
              </a:rPr>
              <a:t>Example- MCP’s in playwright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400"/>
              <a:buFont typeface="Calibri"/>
              <a:buNone/>
            </a:pPr>
            <a:r>
              <a:rPr b="1" lang="en-IN" sz="3400">
                <a:solidFill>
                  <a:srgbClr val="191919"/>
                </a:solidFill>
              </a:rPr>
              <a:t>Conclusion</a:t>
            </a:r>
            <a:endParaRPr/>
          </a:p>
        </p:txBody>
      </p:sp>
      <p:sp>
        <p:nvSpPr>
          <p:cNvPr id="175" name="Google Shape;175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Unified JavaScript ecosystem for testing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Automation improves quality and speed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CI/CD ensures continuous delivery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