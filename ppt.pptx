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gihtOFIC92bCUJzjYKb/YUWVOL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dceb295ed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bdceb295e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bdceb295ed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Automation &amp; Testing Stack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IN"/>
              <a:t>JavaScript • TypeScript • Testing • Mobile Testing• CI/CD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>
            <p:ph type="title"/>
          </p:nvPr>
        </p:nvSpPr>
        <p:spPr>
          <a:xfrm>
            <a:off x="-2422188" y="82991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Font typeface="Calibri"/>
              <a:buNone/>
            </a:pPr>
            <a:r>
              <a:rPr lang="en-IN" sz="4000"/>
              <a:t>JavaScript (JS)</a:t>
            </a:r>
            <a:endParaRPr/>
          </a:p>
        </p:txBody>
      </p:sp>
      <p:sp>
        <p:nvSpPr>
          <p:cNvPr id="95" name="Google Shape;95;p2"/>
          <p:cNvSpPr txBox="1"/>
          <p:nvPr>
            <p:ph idx="1" type="body"/>
          </p:nvPr>
        </p:nvSpPr>
        <p:spPr>
          <a:xfrm>
            <a:off x="280930" y="1765453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rgbClr val="3C3C3C"/>
              </a:buClr>
              <a:buSzPts val="3200"/>
              <a:buChar char="–"/>
            </a:pPr>
            <a:r>
              <a:rPr lang="en-IN" sz="3200"/>
              <a:t>Core language for modern web applications</a:t>
            </a:r>
            <a:endParaRPr/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rgbClr val="3C3C3C"/>
              </a:buClr>
              <a:buSzPts val="3200"/>
              <a:buChar char="–"/>
            </a:pPr>
            <a:r>
              <a:rPr lang="en-IN" sz="3200"/>
              <a:t>Supports asynchronous programming using async/await</a:t>
            </a:r>
            <a:endParaRPr/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rgbClr val="3C3C3C"/>
              </a:buClr>
              <a:buSzPts val="3200"/>
              <a:buChar char="–"/>
            </a:pPr>
            <a:r>
              <a:rPr lang="en-IN" sz="3200"/>
              <a:t>Used in frontend, backend, and automation testing</a:t>
            </a:r>
            <a:endParaRPr sz="3200"/>
          </a:p>
        </p:txBody>
      </p:sp>
      <p:pic>
        <p:nvPicPr>
          <p:cNvPr descr="JavaScript Logo, symbol, meaning, history, PNG, brand" id="96" name="Google Shape;96;p2"/>
          <p:cNvPicPr preferRelativeResize="0"/>
          <p:nvPr/>
        </p:nvPicPr>
        <p:blipFill rotWithShape="1">
          <a:blip r:embed="rId3">
            <a:alphaModFix/>
          </a:blip>
          <a:srcRect b="0" l="0" r="0" t="18547"/>
          <a:stretch/>
        </p:blipFill>
        <p:spPr>
          <a:xfrm>
            <a:off x="3437264" y="257103"/>
            <a:ext cx="4500390" cy="2061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>
            <p:ph type="title"/>
          </p:nvPr>
        </p:nvSpPr>
        <p:spPr>
          <a:xfrm>
            <a:off x="-798721" y="731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3400"/>
              <a:buFont typeface="Calibri"/>
              <a:buNone/>
            </a:pPr>
            <a:r>
              <a:rPr lang="en-IN"/>
              <a:t>TypeScript (TS)</a:t>
            </a:r>
            <a:endParaRPr/>
          </a:p>
        </p:txBody>
      </p:sp>
      <p:sp>
        <p:nvSpPr>
          <p:cNvPr id="102" name="Google Shape;102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rgbClr val="3C3C3C"/>
              </a:buClr>
              <a:buSzPts val="3200"/>
              <a:buChar char="–"/>
            </a:pPr>
            <a:r>
              <a:rPr lang="en-IN" sz="3200"/>
              <a:t>Superset of JavaScript with static typing</a:t>
            </a:r>
            <a:endParaRPr/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rgbClr val="3C3C3C"/>
              </a:buClr>
              <a:buSzPts val="3200"/>
              <a:buChar char="–"/>
            </a:pPr>
            <a:r>
              <a:rPr lang="en-IN" sz="3200"/>
              <a:t>Helps catch errors at compile time</a:t>
            </a:r>
            <a:endParaRPr/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rgbClr val="3C3C3C"/>
              </a:buClr>
              <a:buSzPts val="3200"/>
              <a:buChar char="–"/>
            </a:pPr>
            <a:r>
              <a:rPr lang="en-IN" sz="3200"/>
              <a:t>Improves scalability and maintainability of test code</a:t>
            </a:r>
            <a:endParaRPr sz="3200"/>
          </a:p>
        </p:txBody>
      </p:sp>
      <p:pic>
        <p:nvPicPr>
          <p:cNvPr descr="TypeScript — Википедия" id="103" name="Google Shape;10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62782" y="200666"/>
            <a:ext cx="1930705" cy="19307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/>
          <p:nvPr>
            <p:ph type="title"/>
          </p:nvPr>
        </p:nvSpPr>
        <p:spPr>
          <a:xfrm>
            <a:off x="-1955494" y="7318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Font typeface="Calibri"/>
              <a:buNone/>
            </a:pPr>
            <a:r>
              <a:rPr lang="en-IN" sz="4000"/>
              <a:t>Node.js</a:t>
            </a:r>
            <a:endParaRPr/>
          </a:p>
        </p:txBody>
      </p:sp>
      <p:sp>
        <p:nvSpPr>
          <p:cNvPr id="109" name="Google Shape;109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rgbClr val="3C3C3C"/>
              </a:buClr>
              <a:buSzPts val="3200"/>
              <a:buChar char="–"/>
            </a:pPr>
            <a:r>
              <a:rPr lang="en-IN" sz="3200"/>
              <a:t>JavaScript runtime built on Chrome V8 engine</a:t>
            </a:r>
            <a:endParaRPr/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rgbClr val="3C3C3C"/>
              </a:buClr>
              <a:buSzPts val="3200"/>
              <a:buChar char="–"/>
            </a:pPr>
            <a:r>
              <a:rPr lang="en-IN" sz="3200"/>
              <a:t>Uses non‑blocking, event‑driven architecture</a:t>
            </a:r>
            <a:endParaRPr/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rgbClr val="3C3C3C"/>
              </a:buClr>
              <a:buSzPts val="3200"/>
              <a:buChar char="–"/>
            </a:pPr>
            <a:r>
              <a:rPr lang="en-IN" sz="3200"/>
              <a:t>Executes automation frameworks and API services</a:t>
            </a:r>
            <a:endParaRPr/>
          </a:p>
        </p:txBody>
      </p:sp>
      <p:pic>
        <p:nvPicPr>
          <p:cNvPr id="110" name="Google Shape;11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-253388"/>
            <a:ext cx="3186629" cy="31866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3400"/>
              <a:buFont typeface="Calibri"/>
              <a:buNone/>
            </a:pPr>
            <a:r>
              <a:rPr b="1" lang="en-IN" sz="3400">
                <a:solidFill>
                  <a:srgbClr val="191919"/>
                </a:solidFill>
              </a:rPr>
              <a:t>Web Testing – Key Concepts</a:t>
            </a:r>
            <a:endParaRPr/>
          </a:p>
        </p:txBody>
      </p:sp>
      <p:sp>
        <p:nvSpPr>
          <p:cNvPr id="116" name="Google Shape;116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720"/>
              </a:spcBef>
              <a:spcAft>
                <a:spcPts val="0"/>
              </a:spcAft>
              <a:buClr>
                <a:srgbClr val="3C3C3C"/>
              </a:buClr>
              <a:buSzPts val="3600"/>
              <a:buChar char="–"/>
            </a:pPr>
            <a:r>
              <a:rPr lang="en-IN" sz="3600"/>
              <a:t>Major tools used-&gt; Playwright, Cypress</a:t>
            </a:r>
            <a:endParaRPr/>
          </a:p>
          <a:p>
            <a:pPr indent="-285750" lvl="1" marL="742950" rtl="0" algn="l">
              <a:spcBef>
                <a:spcPts val="720"/>
              </a:spcBef>
              <a:spcAft>
                <a:spcPts val="0"/>
              </a:spcAft>
              <a:buClr>
                <a:srgbClr val="3C3C3C"/>
              </a:buClr>
              <a:buSzPts val="3600"/>
              <a:buChar char="–"/>
            </a:pPr>
            <a:r>
              <a:rPr lang="en-IN" sz="3600"/>
              <a:t>In real projects, structured testing approaches like Page Object Model, data-driven testing, and reusable fixtures are implemented</a:t>
            </a:r>
            <a:endParaRPr sz="3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POM, Data driven testing, fixtures</a:t>
            </a:r>
            <a:endParaRPr/>
          </a:p>
        </p:txBody>
      </p:sp>
      <p:sp>
        <p:nvSpPr>
          <p:cNvPr id="123" name="Google Shape;123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Page Object Model helps separate UI locators and actions from test logic, which makes the framework maintainable.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Data-driven testing allows running the same test with multiple datasets, improving coverage without duplicating code.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Fixtures help manage reusable setups such as login sessions, browser initialization, and test data.</a:t>
            </a:r>
            <a:br>
              <a:rPr lang="en-IN"/>
            </a:br>
            <a:r>
              <a:rPr lang="en-IN"/>
              <a:t>Both Playwright and Cypress support these patterns, although their implementation styles differ slightly.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 txBox="1"/>
          <p:nvPr>
            <p:ph type="title"/>
          </p:nvPr>
        </p:nvSpPr>
        <p:spPr>
          <a:xfrm>
            <a:off x="-1010797" y="511501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3400"/>
              <a:buFont typeface="Calibri"/>
              <a:buNone/>
            </a:pPr>
            <a:r>
              <a:rPr lang="en-IN"/>
              <a:t>Web Testing – Playwright</a:t>
            </a:r>
            <a:endParaRPr/>
          </a:p>
        </p:txBody>
      </p:sp>
      <p:sp>
        <p:nvSpPr>
          <p:cNvPr id="129" name="Google Shape;129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720"/>
              </a:spcBef>
              <a:spcAft>
                <a:spcPts val="0"/>
              </a:spcAft>
              <a:buClr>
                <a:srgbClr val="3C3C3C"/>
              </a:buClr>
              <a:buSzPts val="3600"/>
              <a:buChar char="–"/>
            </a:pPr>
            <a:r>
              <a:rPr lang="en-IN" sz="3600"/>
              <a:t>Modern end‑to‑end testing framework</a:t>
            </a:r>
            <a:endParaRPr/>
          </a:p>
          <a:p>
            <a:pPr indent="-285750" lvl="1" marL="742950" rtl="0" algn="l">
              <a:spcBef>
                <a:spcPts val="720"/>
              </a:spcBef>
              <a:spcAft>
                <a:spcPts val="0"/>
              </a:spcAft>
              <a:buClr>
                <a:srgbClr val="3C3C3C"/>
              </a:buClr>
              <a:buSzPts val="3600"/>
              <a:buChar char="–"/>
            </a:pPr>
            <a:r>
              <a:rPr lang="en-IN" sz="3600"/>
              <a:t>Supports multiple browsers and parallel execution</a:t>
            </a:r>
            <a:endParaRPr/>
          </a:p>
          <a:p>
            <a:pPr indent="-285750" lvl="1" marL="742950" rtl="0" algn="l">
              <a:spcBef>
                <a:spcPts val="720"/>
              </a:spcBef>
              <a:spcAft>
                <a:spcPts val="0"/>
              </a:spcAft>
              <a:buClr>
                <a:srgbClr val="3C3C3C"/>
              </a:buClr>
              <a:buSzPts val="3600"/>
              <a:buChar char="–"/>
            </a:pPr>
            <a:r>
              <a:rPr lang="en-IN" sz="3600"/>
              <a:t>Auto‑waiting reduces flaky tests</a:t>
            </a:r>
            <a:endParaRPr sz="3600"/>
          </a:p>
          <a:p>
            <a:pPr indent="-285750" lvl="1" marL="742950" rtl="0" algn="l">
              <a:spcBef>
                <a:spcPts val="720"/>
              </a:spcBef>
              <a:spcAft>
                <a:spcPts val="0"/>
              </a:spcAft>
              <a:buClr>
                <a:srgbClr val="3C3C3C"/>
              </a:buClr>
              <a:buSzPts val="3600"/>
              <a:buChar char="–"/>
            </a:pPr>
            <a:r>
              <a:rPr lang="en-IN" sz="3600"/>
              <a:t>CSS and xpath can be used to detect element</a:t>
            </a:r>
            <a:endParaRPr sz="3600"/>
          </a:p>
        </p:txBody>
      </p:sp>
      <p:pic>
        <p:nvPicPr>
          <p:cNvPr descr="8年经验之谈 —— 推荐几款常用Web自动化测试神器！ - 知乎" id="130" name="Google Shape;13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50805" y="616085"/>
            <a:ext cx="3094764" cy="1756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"/>
          <p:cNvSpPr txBox="1"/>
          <p:nvPr>
            <p:ph type="title"/>
          </p:nvPr>
        </p:nvSpPr>
        <p:spPr>
          <a:xfrm>
            <a:off x="-1779225" y="71728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3400"/>
              <a:buFont typeface="Calibri"/>
              <a:buNone/>
            </a:pPr>
            <a:r>
              <a:rPr lang="en-IN"/>
              <a:t>Web Testing – Cypress</a:t>
            </a:r>
            <a:endParaRPr/>
          </a:p>
        </p:txBody>
      </p:sp>
      <p:sp>
        <p:nvSpPr>
          <p:cNvPr id="136" name="Google Shape;136;p8"/>
          <p:cNvSpPr txBox="1"/>
          <p:nvPr>
            <p:ph idx="1" type="body"/>
          </p:nvPr>
        </p:nvSpPr>
        <p:spPr>
          <a:xfrm>
            <a:off x="0" y="1842571"/>
            <a:ext cx="8956713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143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t/>
            </a:r>
            <a:endParaRPr sz="3600"/>
          </a:p>
          <a:p>
            <a:pPr indent="-285750" lvl="1" marL="742950" rtl="0" algn="l">
              <a:spcBef>
                <a:spcPts val="720"/>
              </a:spcBef>
              <a:spcAft>
                <a:spcPts val="0"/>
              </a:spcAft>
              <a:buClr>
                <a:srgbClr val="3C3C3C"/>
              </a:buClr>
              <a:buSzPts val="3600"/>
              <a:buChar char="–"/>
            </a:pPr>
            <a:r>
              <a:rPr lang="en-IN" sz="3600"/>
              <a:t>Developer‑friendly UI testing framework</a:t>
            </a:r>
            <a:endParaRPr/>
          </a:p>
          <a:p>
            <a:pPr indent="-285750" lvl="1" marL="742950" rtl="0" algn="l">
              <a:spcBef>
                <a:spcPts val="720"/>
              </a:spcBef>
              <a:spcAft>
                <a:spcPts val="0"/>
              </a:spcAft>
              <a:buClr>
                <a:srgbClr val="3C3C3C"/>
              </a:buClr>
              <a:buSzPts val="3600"/>
              <a:buChar char="–"/>
            </a:pPr>
            <a:r>
              <a:rPr lang="en-IN" sz="3600"/>
              <a:t>Runs directly in the browser</a:t>
            </a:r>
            <a:endParaRPr/>
          </a:p>
          <a:p>
            <a:pPr indent="-285750" lvl="1" marL="742950" rtl="0" algn="l">
              <a:spcBef>
                <a:spcPts val="720"/>
              </a:spcBef>
              <a:spcAft>
                <a:spcPts val="0"/>
              </a:spcAft>
              <a:buClr>
                <a:srgbClr val="3C3C3C"/>
              </a:buClr>
              <a:buSzPts val="3600"/>
              <a:buChar char="–"/>
            </a:pPr>
            <a:r>
              <a:rPr lang="en-IN" sz="3600"/>
              <a:t>Provides time‑travel debugging</a:t>
            </a:r>
            <a:endParaRPr sz="3600"/>
          </a:p>
          <a:p>
            <a:pPr indent="-285750" lvl="1" marL="742950" rtl="0" algn="l">
              <a:spcBef>
                <a:spcPts val="720"/>
              </a:spcBef>
              <a:spcAft>
                <a:spcPts val="0"/>
              </a:spcAft>
              <a:buClr>
                <a:srgbClr val="3C3C3C"/>
              </a:buClr>
              <a:buSzPts val="3600"/>
              <a:buChar char="–"/>
            </a:pPr>
            <a:r>
              <a:rPr lang="en-IN" sz="3600"/>
              <a:t>CSS selectors and jquery are used as selectors.</a:t>
            </a:r>
            <a:endParaRPr/>
          </a:p>
          <a:p>
            <a:pPr indent="-57150" lvl="1" marL="742950" rtl="0" algn="l">
              <a:spcBef>
                <a:spcPts val="720"/>
              </a:spcBef>
              <a:spcAft>
                <a:spcPts val="0"/>
              </a:spcAft>
              <a:buClr>
                <a:srgbClr val="3C3C3C"/>
              </a:buClr>
              <a:buSzPts val="3600"/>
              <a:buNone/>
            </a:pPr>
            <a:r>
              <a:t/>
            </a:r>
            <a:endParaRPr sz="3600"/>
          </a:p>
        </p:txBody>
      </p:sp>
      <p:pic>
        <p:nvPicPr>
          <p:cNvPr descr="Best Practices for Cypress Testing in Angular | by Sehban Alam | Medium" id="137" name="Google Shape;13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70424"/>
            <a:ext cx="4274545" cy="22367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3400"/>
              <a:buFont typeface="Calibri"/>
              <a:buNone/>
            </a:pPr>
            <a:r>
              <a:rPr lang="en-IN"/>
              <a:t>API Testing – Overview and Authentication</a:t>
            </a:r>
            <a:endParaRPr/>
          </a:p>
        </p:txBody>
      </p:sp>
      <p:sp>
        <p:nvSpPr>
          <p:cNvPr id="143" name="Google Shape;143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rgbClr val="3C3C3C"/>
              </a:buClr>
              <a:buSzPts val="3200"/>
              <a:buChar char="–"/>
            </a:pPr>
            <a:r>
              <a:rPr lang="en-IN" sz="3200"/>
              <a:t>Validates backend services independently</a:t>
            </a:r>
            <a:endParaRPr/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rgbClr val="3C3C3C"/>
              </a:buClr>
              <a:buSzPts val="3200"/>
              <a:buChar char="–"/>
            </a:pPr>
            <a:r>
              <a:rPr lang="en-IN" sz="3200"/>
              <a:t>Tests REST APIs using HTTP methods</a:t>
            </a:r>
            <a:endParaRPr/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rgbClr val="3C3C3C"/>
              </a:buClr>
              <a:buSzPts val="3200"/>
              <a:buChar char="–"/>
            </a:pPr>
            <a:r>
              <a:rPr lang="en-IN" sz="3200"/>
              <a:t>Ensures correct authentication and responses</a:t>
            </a:r>
            <a:endParaRPr sz="3200"/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rgbClr val="3C3C3C"/>
              </a:buClr>
              <a:buSzPts val="3200"/>
              <a:buChar char="–"/>
            </a:pPr>
            <a:r>
              <a:rPr lang="en-IN" sz="3200"/>
              <a:t>No auth, Basic auth, API key based, token based are common authentication methods.</a:t>
            </a:r>
            <a:endParaRPr sz="3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Font typeface="Calibri"/>
              <a:buNone/>
            </a:pPr>
            <a:r>
              <a:rPr lang="en-IN" sz="4000"/>
              <a:t>API Testing – Playwright &amp; Cypress</a:t>
            </a:r>
            <a:endParaRPr/>
          </a:p>
        </p:txBody>
      </p:sp>
      <p:sp>
        <p:nvSpPr>
          <p:cNvPr id="149" name="Google Shape;149;p10"/>
          <p:cNvSpPr txBox="1"/>
          <p:nvPr>
            <p:ph idx="1" type="body"/>
          </p:nvPr>
        </p:nvSpPr>
        <p:spPr>
          <a:xfrm>
            <a:off x="457200" y="116601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720"/>
              </a:spcBef>
              <a:spcAft>
                <a:spcPts val="0"/>
              </a:spcAft>
              <a:buClr>
                <a:srgbClr val="3C3C3C"/>
              </a:buClr>
              <a:buSzPts val="3600"/>
              <a:buChar char="–"/>
            </a:pPr>
            <a:r>
              <a:rPr lang="en-IN" sz="3600"/>
              <a:t>Playwright provides API request context</a:t>
            </a:r>
            <a:endParaRPr/>
          </a:p>
          <a:p>
            <a:pPr indent="-285750" lvl="1" marL="742950" rtl="0" algn="l">
              <a:spcBef>
                <a:spcPts val="720"/>
              </a:spcBef>
              <a:spcAft>
                <a:spcPts val="0"/>
              </a:spcAft>
              <a:buClr>
                <a:srgbClr val="3C3C3C"/>
              </a:buClr>
              <a:buSzPts val="3600"/>
              <a:buChar char="–"/>
            </a:pPr>
            <a:r>
              <a:rPr lang="en-IN" sz="3600"/>
              <a:t>Cypress uses cy.request() for API calls</a:t>
            </a:r>
            <a:endParaRPr/>
          </a:p>
          <a:p>
            <a:pPr indent="-285750" lvl="1" marL="742950" rtl="0" algn="l">
              <a:spcBef>
                <a:spcPts val="720"/>
              </a:spcBef>
              <a:spcAft>
                <a:spcPts val="0"/>
              </a:spcAft>
              <a:buClr>
                <a:srgbClr val="3C3C3C"/>
              </a:buClr>
              <a:buSzPts val="3600"/>
              <a:buChar char="–"/>
            </a:pPr>
            <a:r>
              <a:rPr lang="en-IN" sz="3600"/>
              <a:t>APIs can be used as test preconditions</a:t>
            </a:r>
            <a:endParaRPr sz="3600"/>
          </a:p>
          <a:p>
            <a:pPr indent="-285750" lvl="1" marL="742950" rtl="0" algn="l">
              <a:spcBef>
                <a:spcPts val="720"/>
              </a:spcBef>
              <a:spcAft>
                <a:spcPts val="0"/>
              </a:spcAft>
              <a:buClr>
                <a:srgbClr val="3C3C3C"/>
              </a:buClr>
              <a:buSzPts val="3600"/>
              <a:buChar char="–"/>
            </a:pPr>
            <a:r>
              <a:rPr lang="en-IN" sz="3600"/>
              <a:t>The response returned can be used to validate data.</a:t>
            </a:r>
            <a:endParaRPr sz="3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3400"/>
              <a:buFont typeface="Calibri"/>
              <a:buNone/>
            </a:pPr>
            <a:r>
              <a:rPr lang="en-IN"/>
              <a:t>Mobile Testing (local and cloud)</a:t>
            </a:r>
            <a:endParaRPr/>
          </a:p>
        </p:txBody>
      </p:sp>
      <p:sp>
        <p:nvSpPr>
          <p:cNvPr id="155" name="Google Shape;155;p11"/>
          <p:cNvSpPr txBox="1"/>
          <p:nvPr>
            <p:ph idx="1" type="body"/>
          </p:nvPr>
        </p:nvSpPr>
        <p:spPr>
          <a:xfrm>
            <a:off x="457200" y="131376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15494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00037" lvl="1" marL="742950" rtl="0" algn="l">
              <a:spcBef>
                <a:spcPts val="555"/>
              </a:spcBef>
              <a:spcAft>
                <a:spcPts val="0"/>
              </a:spcAft>
              <a:buClr>
                <a:srgbClr val="3C3C3C"/>
              </a:buClr>
              <a:buSzPts val="3000"/>
              <a:buChar char="–"/>
            </a:pPr>
            <a:r>
              <a:rPr lang="en-IN" sz="3000"/>
              <a:t>Appium enables cross‑platform mobile automation</a:t>
            </a:r>
            <a:endParaRPr/>
          </a:p>
          <a:p>
            <a:pPr indent="-300037" lvl="1" marL="742950" rtl="0" algn="l">
              <a:spcBef>
                <a:spcPts val="555"/>
              </a:spcBef>
              <a:spcAft>
                <a:spcPts val="0"/>
              </a:spcAft>
              <a:buClr>
                <a:srgbClr val="3C3C3C"/>
              </a:buClr>
              <a:buSzPts val="3000"/>
              <a:buChar char="–"/>
            </a:pPr>
            <a:r>
              <a:rPr lang="en-IN" sz="3000"/>
              <a:t>WDIO acts as test runner and framework</a:t>
            </a:r>
            <a:endParaRPr/>
          </a:p>
          <a:p>
            <a:pPr indent="-300037" lvl="1" marL="742950" rtl="0" algn="l">
              <a:spcBef>
                <a:spcPts val="555"/>
              </a:spcBef>
              <a:spcAft>
                <a:spcPts val="0"/>
              </a:spcAft>
              <a:buClr>
                <a:srgbClr val="3C3C3C"/>
              </a:buClr>
              <a:buSzPts val="3000"/>
              <a:buChar char="–"/>
            </a:pPr>
            <a:r>
              <a:rPr lang="en-IN" sz="3000"/>
              <a:t>Appium Inspector helps locate mobile elements</a:t>
            </a:r>
            <a:endParaRPr sz="3000"/>
          </a:p>
          <a:p>
            <a:pPr indent="-300037" lvl="1" marL="742950" rtl="0" algn="l">
              <a:spcBef>
                <a:spcPts val="555"/>
              </a:spcBef>
              <a:spcAft>
                <a:spcPts val="0"/>
              </a:spcAft>
              <a:buClr>
                <a:srgbClr val="3C3C3C"/>
              </a:buClr>
              <a:buSzPts val="3000"/>
              <a:buChar char="–"/>
            </a:pPr>
            <a:r>
              <a:rPr lang="en-IN" sz="3000"/>
              <a:t>Websites like Browserstack provides the devices which can be used to test.</a:t>
            </a:r>
            <a:endParaRPr/>
          </a:p>
          <a:p>
            <a:pPr indent="-300037" lvl="1" marL="742950" rtl="0" algn="l">
              <a:spcBef>
                <a:spcPts val="555"/>
              </a:spcBef>
              <a:spcAft>
                <a:spcPts val="0"/>
              </a:spcAft>
              <a:buClr>
                <a:srgbClr val="3C3C3C"/>
              </a:buClr>
              <a:buSzPts val="3000"/>
              <a:buChar char="–"/>
            </a:pPr>
            <a:r>
              <a:rPr lang="en-IN" sz="3000"/>
              <a:t>Emulators can be used on local machine for testing purpose.</a:t>
            </a:r>
            <a:endParaRPr sz="3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"/>
          <p:cNvSpPr txBox="1"/>
          <p:nvPr>
            <p:ph type="title"/>
          </p:nvPr>
        </p:nvSpPr>
        <p:spPr>
          <a:xfrm>
            <a:off x="-1437702" y="44264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Font typeface="Calibri"/>
              <a:buNone/>
            </a:pPr>
            <a:r>
              <a:rPr lang="en-IN" sz="4000"/>
              <a:t>CI / CD Integration</a:t>
            </a:r>
            <a:endParaRPr/>
          </a:p>
        </p:txBody>
      </p:sp>
      <p:sp>
        <p:nvSpPr>
          <p:cNvPr id="161" name="Google Shape;161;p12"/>
          <p:cNvSpPr txBox="1"/>
          <p:nvPr>
            <p:ph idx="1" type="body"/>
          </p:nvPr>
        </p:nvSpPr>
        <p:spPr>
          <a:xfrm>
            <a:off x="313980" y="1688335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rgbClr val="3C3C3C"/>
              </a:buClr>
              <a:buSzPts val="3200"/>
              <a:buChar char="–"/>
            </a:pPr>
            <a:r>
              <a:rPr lang="en-IN" sz="3200"/>
              <a:t>Automates test execution on code changes</a:t>
            </a:r>
            <a:endParaRPr/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rgbClr val="3C3C3C"/>
              </a:buClr>
              <a:buSzPts val="3200"/>
              <a:buChar char="–"/>
            </a:pPr>
            <a:r>
              <a:rPr lang="en-IN" sz="3200"/>
              <a:t>Ensures faster feedback to developers</a:t>
            </a:r>
            <a:endParaRPr/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rgbClr val="3C3C3C"/>
              </a:buClr>
              <a:buSzPts val="3200"/>
              <a:buChar char="–"/>
            </a:pPr>
            <a:r>
              <a:rPr lang="en-IN" sz="3200"/>
              <a:t>Common tools include GitHub Actions and Jenkins.</a:t>
            </a:r>
            <a:endParaRPr/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rgbClr val="3C3C3C"/>
              </a:buClr>
              <a:buSzPts val="3200"/>
              <a:buChar char="–"/>
            </a:pPr>
            <a:r>
              <a:rPr lang="en-IN" sz="3200"/>
              <a:t>Done by creating .yml file in ‘.github’.</a:t>
            </a:r>
            <a:endParaRPr/>
          </a:p>
          <a:p>
            <a:pPr indent="-82550" lvl="1" marL="742950" rtl="0" algn="l">
              <a:spcBef>
                <a:spcPts val="640"/>
              </a:spcBef>
              <a:spcAft>
                <a:spcPts val="0"/>
              </a:spcAft>
              <a:buClr>
                <a:srgbClr val="3C3C3C"/>
              </a:buClr>
              <a:buSzPts val="3200"/>
              <a:buNone/>
            </a:pPr>
            <a:r>
              <a:t/>
            </a:r>
            <a:endParaRPr sz="3200"/>
          </a:p>
        </p:txBody>
      </p:sp>
      <p:pic>
        <p:nvPicPr>
          <p:cNvPr id="162" name="Google Shape;16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3779" y="45903"/>
            <a:ext cx="4076241" cy="20862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dceb295ed_0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-IN" sz="2600">
                <a:latin typeface="Arial"/>
                <a:ea typeface="Arial"/>
                <a:cs typeface="Arial"/>
                <a:sym typeface="Arial"/>
              </a:rPr>
              <a:t>AI in Software Testing</a:t>
            </a:r>
            <a:endParaRPr sz="5700"/>
          </a:p>
        </p:txBody>
      </p:sp>
      <p:sp>
        <p:nvSpPr>
          <p:cNvPr id="169" name="Google Shape;169;g3bdceb295ed_0_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300"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300"/>
              <a:buChar char="●"/>
            </a:pPr>
            <a:r>
              <a:rPr b="1" lang="en-IN" sz="2300">
                <a:latin typeface="Arial"/>
                <a:ea typeface="Arial"/>
                <a:cs typeface="Arial"/>
                <a:sym typeface="Arial"/>
              </a:rPr>
              <a:t>Test Generation</a:t>
            </a:r>
            <a:r>
              <a:rPr lang="en-IN" sz="2300">
                <a:latin typeface="Arial"/>
                <a:ea typeface="Arial"/>
                <a:cs typeface="Arial"/>
                <a:sym typeface="Arial"/>
              </a:rPr>
              <a:t>: AI can create test cases from requirements, user stories, or natural language.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en-IN" sz="2300">
                <a:latin typeface="Arial"/>
                <a:ea typeface="Arial"/>
                <a:cs typeface="Arial"/>
                <a:sym typeface="Arial"/>
              </a:rPr>
              <a:t>Self‑Healing Automation</a:t>
            </a:r>
            <a:r>
              <a:rPr lang="en-IN" sz="2300">
                <a:latin typeface="Arial"/>
                <a:ea typeface="Arial"/>
                <a:cs typeface="Arial"/>
                <a:sym typeface="Arial"/>
              </a:rPr>
              <a:t>: Locators and scripts adapt automatically when the UI changes.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en-IN" sz="2300">
                <a:latin typeface="Arial"/>
                <a:ea typeface="Arial"/>
                <a:cs typeface="Arial"/>
                <a:sym typeface="Arial"/>
              </a:rPr>
              <a:t>Failure Analysis</a:t>
            </a:r>
            <a:r>
              <a:rPr lang="en-IN" sz="2300">
                <a:latin typeface="Arial"/>
                <a:ea typeface="Arial"/>
                <a:cs typeface="Arial"/>
                <a:sym typeface="Arial"/>
              </a:rPr>
              <a:t>: AI reviews logs, screenshots, and patterns to suggest root causes.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2300">
                <a:latin typeface="Arial"/>
                <a:ea typeface="Arial"/>
                <a:cs typeface="Arial"/>
                <a:sym typeface="Arial"/>
              </a:rPr>
              <a:t>Example- MCP’s in playwright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3400"/>
              <a:buFont typeface="Calibri"/>
              <a:buNone/>
            </a:pPr>
            <a:r>
              <a:rPr b="1" lang="en-IN" sz="3400">
                <a:solidFill>
                  <a:srgbClr val="191919"/>
                </a:solidFill>
              </a:rPr>
              <a:t>Conclusion</a:t>
            </a:r>
            <a:endParaRPr/>
          </a:p>
        </p:txBody>
      </p:sp>
      <p:sp>
        <p:nvSpPr>
          <p:cNvPr id="175" name="Google Shape;175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rgbClr val="3C3C3C"/>
              </a:buClr>
              <a:buSzPts val="3200"/>
              <a:buChar char="–"/>
            </a:pPr>
            <a:r>
              <a:rPr lang="en-IN" sz="3200"/>
              <a:t>Unified JavaScript ecosystem for testing</a:t>
            </a:r>
            <a:endParaRPr/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rgbClr val="3C3C3C"/>
              </a:buClr>
              <a:buSzPts val="3200"/>
              <a:buChar char="–"/>
            </a:pPr>
            <a:r>
              <a:rPr lang="en-IN" sz="3200"/>
              <a:t>Automation improves quality and speed</a:t>
            </a:r>
            <a:endParaRPr/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rgbClr val="3C3C3C"/>
              </a:buClr>
              <a:buSzPts val="3200"/>
              <a:buChar char="–"/>
            </a:pPr>
            <a:r>
              <a:rPr lang="en-IN" sz="3200"/>
              <a:t>CI/CD ensures continuous delivery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